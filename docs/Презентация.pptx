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7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9"/>
  </p:normalViewPr>
  <p:slideViewPr>
    <p:cSldViewPr snapToGrid="0" snapToObjects="1">
      <p:cViewPr varScale="1">
        <p:scale>
          <a:sx n="79" d="100"/>
          <a:sy n="79" d="100"/>
        </p:scale>
        <p:origin x="821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2011680"/>
            <a:ext cx="109115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 dirty="0">
                <a:solidFill>
                  <a:srgbClr val="183E6B"/>
                </a:solidFill>
              </a:rPr>
              <a:t>Game of Life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918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 err="1">
                <a:solidFill>
                  <a:srgbClr val="222222"/>
                </a:solidFill>
              </a:rPr>
              <a:t>Реализация</a:t>
            </a:r>
            <a:r>
              <a:rPr sz="2800" b="0" dirty="0">
                <a:solidFill>
                  <a:srgbClr val="222222"/>
                </a:solidFill>
              </a:rPr>
              <a:t> </a:t>
            </a:r>
            <a:r>
              <a:rPr sz="2800" b="0" dirty="0" err="1">
                <a:solidFill>
                  <a:srgbClr val="222222"/>
                </a:solidFill>
              </a:rPr>
              <a:t>клеточного</a:t>
            </a:r>
            <a:r>
              <a:rPr sz="2800" b="0" dirty="0">
                <a:solidFill>
                  <a:srgbClr val="222222"/>
                </a:solidFill>
              </a:rPr>
              <a:t> </a:t>
            </a:r>
            <a:r>
              <a:rPr sz="2800" b="0" dirty="0" err="1">
                <a:solidFill>
                  <a:srgbClr val="222222"/>
                </a:solidFill>
              </a:rPr>
              <a:t>автомата</a:t>
            </a:r>
            <a:r>
              <a:rPr sz="2800" b="0" dirty="0">
                <a:solidFill>
                  <a:srgbClr val="222222"/>
                </a:solidFill>
              </a:rPr>
              <a:t> </a:t>
            </a:r>
            <a:r>
              <a:rPr sz="2800" b="0" dirty="0" err="1">
                <a:solidFill>
                  <a:srgbClr val="222222"/>
                </a:solidFill>
              </a:rPr>
              <a:t>Дж</a:t>
            </a:r>
            <a:r>
              <a:rPr sz="2800" b="0" dirty="0">
                <a:solidFill>
                  <a:srgbClr val="222222"/>
                </a:solidFill>
              </a:rPr>
              <a:t>. </a:t>
            </a:r>
            <a:r>
              <a:rPr sz="2800" b="0" dirty="0" err="1">
                <a:solidFill>
                  <a:srgbClr val="222222"/>
                </a:solidFill>
              </a:rPr>
              <a:t>Конвея</a:t>
            </a:r>
            <a:endParaRPr sz="2800" b="0" dirty="0">
              <a:solidFill>
                <a:srgbClr val="22222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40233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2C884D"/>
                </a:solidFill>
              </a:rPr>
              <a:t>Python 3 · Tkinter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 err="1">
                <a:solidFill>
                  <a:srgbClr val="222222"/>
                </a:solidFill>
              </a:rPr>
              <a:t>Менеджер</a:t>
            </a:r>
            <a:r>
              <a:rPr sz="1600" b="0" dirty="0">
                <a:solidFill>
                  <a:srgbClr val="222222"/>
                </a:solidFill>
              </a:rPr>
              <a:t> · </a:t>
            </a:r>
            <a:r>
              <a:rPr sz="1600" b="0" dirty="0" err="1">
                <a:solidFill>
                  <a:srgbClr val="222222"/>
                </a:solidFill>
              </a:rPr>
              <a:t>Разработчик</a:t>
            </a:r>
            <a:r>
              <a:rPr sz="1600" b="0" dirty="0">
                <a:solidFill>
                  <a:srgbClr val="222222"/>
                </a:solidFill>
              </a:rPr>
              <a:t> · </a:t>
            </a:r>
            <a:r>
              <a:rPr sz="1600" b="0" dirty="0" err="1">
                <a:solidFill>
                  <a:srgbClr val="222222"/>
                </a:solidFill>
              </a:rPr>
              <a:t>Тестировщик</a:t>
            </a:r>
            <a:endParaRPr sz="1600" b="0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Цель и актуальность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Цель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115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dirty="0" err="1">
                <a:solidFill>
                  <a:srgbClr val="222222"/>
                </a:solidFill>
              </a:rPr>
              <a:t>Разработать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настольное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приложение</a:t>
            </a:r>
            <a:r>
              <a:rPr sz="1800" b="0" dirty="0">
                <a:solidFill>
                  <a:srgbClr val="222222"/>
                </a:solidFill>
              </a:rPr>
              <a:t>, </a:t>
            </a:r>
            <a:r>
              <a:rPr sz="1800" b="0" dirty="0" err="1">
                <a:solidFill>
                  <a:srgbClr val="222222"/>
                </a:solidFill>
              </a:rPr>
              <a:t>реализующее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клеточный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автомат</a:t>
            </a:r>
            <a:r>
              <a:rPr sz="1800" b="0" dirty="0">
                <a:solidFill>
                  <a:srgbClr val="222222"/>
                </a:solidFill>
              </a:rPr>
              <a:t> «</a:t>
            </a:r>
            <a:r>
              <a:rPr sz="1800" b="0" dirty="0" err="1">
                <a:solidFill>
                  <a:srgbClr val="222222"/>
                </a:solidFill>
              </a:rPr>
              <a:t>Жизнь</a:t>
            </a:r>
            <a:r>
              <a:rPr sz="1800" b="0" dirty="0">
                <a:solidFill>
                  <a:srgbClr val="222222"/>
                </a:solidFill>
              </a:rPr>
              <a:t>» с </a:t>
            </a:r>
            <a:r>
              <a:rPr sz="1800" b="0" dirty="0" err="1">
                <a:solidFill>
                  <a:srgbClr val="222222"/>
                </a:solidFill>
              </a:rPr>
              <a:t>интерактивным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полем</a:t>
            </a:r>
            <a:r>
              <a:rPr sz="1800" b="0" dirty="0">
                <a:solidFill>
                  <a:srgbClr val="222222"/>
                </a:solidFill>
              </a:rPr>
              <a:t> 20×20, </a:t>
            </a:r>
            <a:r>
              <a:rPr sz="1800" b="0" dirty="0" err="1">
                <a:solidFill>
                  <a:srgbClr val="222222"/>
                </a:solidFill>
              </a:rPr>
              <a:t>пошаговой</a:t>
            </a:r>
            <a:r>
              <a:rPr sz="1800" b="0" dirty="0">
                <a:solidFill>
                  <a:srgbClr val="222222"/>
                </a:solidFill>
              </a:rPr>
              <a:t> и </a:t>
            </a:r>
            <a:r>
              <a:rPr sz="1800" b="0" dirty="0" err="1">
                <a:solidFill>
                  <a:srgbClr val="222222"/>
                </a:solidFill>
              </a:rPr>
              <a:t>непрерывной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симуляцией</a:t>
            </a:r>
            <a:r>
              <a:rPr sz="1800" b="0" dirty="0">
                <a:solidFill>
                  <a:srgbClr val="222222"/>
                </a:solidFill>
              </a:rPr>
              <a:t>, </a:t>
            </a:r>
            <a:r>
              <a:rPr sz="1800" b="0" dirty="0" err="1">
                <a:solidFill>
                  <a:srgbClr val="222222"/>
                </a:solidFill>
              </a:rPr>
              <a:t>ручной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расстановкой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клеток</a:t>
            </a:r>
            <a:r>
              <a:rPr sz="1800" b="0" dirty="0">
                <a:solidFill>
                  <a:srgbClr val="222222"/>
                </a:solidFill>
              </a:rPr>
              <a:t>, </a:t>
            </a:r>
            <a:r>
              <a:rPr sz="1800" b="0" dirty="0" err="1">
                <a:solidFill>
                  <a:srgbClr val="222222"/>
                </a:solidFill>
              </a:rPr>
              <a:t>случайным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заполнением</a:t>
            </a:r>
            <a:r>
              <a:rPr sz="1800" b="0" dirty="0">
                <a:solidFill>
                  <a:srgbClr val="222222"/>
                </a:solidFill>
              </a:rPr>
              <a:t>, </a:t>
            </a:r>
            <a:r>
              <a:rPr sz="1800" b="0" dirty="0" err="1">
                <a:solidFill>
                  <a:srgbClr val="222222"/>
                </a:solidFill>
              </a:rPr>
              <a:t>сохранением</a:t>
            </a:r>
            <a:r>
              <a:rPr sz="1800" b="0" dirty="0">
                <a:solidFill>
                  <a:srgbClr val="222222"/>
                </a:solidFill>
              </a:rPr>
              <a:t> и </a:t>
            </a:r>
            <a:r>
              <a:rPr sz="1800" b="0" dirty="0" err="1">
                <a:solidFill>
                  <a:srgbClr val="222222"/>
                </a:solidFill>
              </a:rPr>
              <a:t>загрузкой</a:t>
            </a:r>
            <a:r>
              <a:rPr sz="1800" b="0" dirty="0">
                <a:solidFill>
                  <a:srgbClr val="222222"/>
                </a:solidFill>
              </a:rPr>
              <a:t> </a:t>
            </a:r>
            <a:r>
              <a:rPr sz="1800" b="0" dirty="0" err="1">
                <a:solidFill>
                  <a:srgbClr val="222222"/>
                </a:solidFill>
              </a:rPr>
              <a:t>состояния</a:t>
            </a:r>
            <a:r>
              <a:rPr sz="1800" b="0" dirty="0"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C884D"/>
                </a:solidFill>
              </a:rPr>
              <a:t>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10728655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800" dirty="0">
                <a:solidFill>
                  <a:srgbClr val="222222"/>
                </a:solidFill>
              </a:rPr>
              <a:t> </a:t>
            </a:r>
            <a:r>
              <a:rPr lang="ru-RU" dirty="0"/>
              <a:t>Клеточные автоматы широко применяются в моделировании биологических, физических и социальных процессов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/>
              <a:t>«Игра Жизнь» — минимальный набор правил порождает сложные самоорганизующиеся структуры;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dirty="0"/>
              <a:t>Разработка интерактивного симулятора позволяет на практике освоить принципы ООП, событийно-управляемого программирования и работу с графическим интерфейсом</a:t>
            </a:r>
          </a:p>
          <a:p>
            <a:pPr>
              <a:spcAft>
                <a:spcPts val="600"/>
              </a:spcAft>
            </a:pPr>
            <a:endParaRPr sz="1800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Спроектировать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архитектуру</a:t>
            </a:r>
            <a:r>
              <a:rPr sz="1800" dirty="0">
                <a:solidFill>
                  <a:srgbClr val="222222"/>
                </a:solidFill>
              </a:rPr>
              <a:t> с </a:t>
            </a:r>
            <a:r>
              <a:rPr sz="1800" dirty="0" err="1">
                <a:solidFill>
                  <a:srgbClr val="222222"/>
                </a:solidFill>
              </a:rPr>
              <a:t>разделением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слоёв</a:t>
            </a:r>
            <a:r>
              <a:rPr sz="1800" dirty="0">
                <a:solidFill>
                  <a:srgbClr val="222222"/>
                </a:solidFill>
              </a:rPr>
              <a:t>: </a:t>
            </a:r>
            <a:r>
              <a:rPr sz="1800" dirty="0" err="1">
                <a:solidFill>
                  <a:srgbClr val="222222"/>
                </a:solidFill>
              </a:rPr>
              <a:t>данные</a:t>
            </a:r>
            <a:r>
              <a:rPr sz="1800" dirty="0">
                <a:solidFill>
                  <a:srgbClr val="222222"/>
                </a:solidFill>
              </a:rPr>
              <a:t> → </a:t>
            </a:r>
            <a:r>
              <a:rPr sz="1800" dirty="0" err="1">
                <a:solidFill>
                  <a:srgbClr val="222222"/>
                </a:solidFill>
              </a:rPr>
              <a:t>логика</a:t>
            </a:r>
            <a:r>
              <a:rPr sz="1800" dirty="0">
                <a:solidFill>
                  <a:srgbClr val="222222"/>
                </a:solidFill>
              </a:rPr>
              <a:t> → </a:t>
            </a:r>
            <a:r>
              <a:rPr sz="1800" dirty="0" err="1">
                <a:solidFill>
                  <a:srgbClr val="222222"/>
                </a:solidFill>
              </a:rPr>
              <a:t>представление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Реализовать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модель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поля</a:t>
            </a:r>
            <a:r>
              <a:rPr sz="1800" dirty="0">
                <a:solidFill>
                  <a:srgbClr val="222222"/>
                </a:solidFill>
              </a:rPr>
              <a:t> и </a:t>
            </a:r>
            <a:r>
              <a:rPr sz="1800" dirty="0" err="1">
                <a:solidFill>
                  <a:srgbClr val="222222"/>
                </a:solidFill>
              </a:rPr>
              <a:t>правил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клеточного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автомата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поддержка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произвольного</a:t>
            </a:r>
            <a:r>
              <a:rPr sz="1800" dirty="0">
                <a:solidFill>
                  <a:srgbClr val="222222"/>
                </a:solidFill>
              </a:rPr>
              <a:t> B…/S…).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Создать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графический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интерфейс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на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Tkinter</a:t>
            </a:r>
            <a:r>
              <a:rPr sz="1800" dirty="0">
                <a:solidFill>
                  <a:srgbClr val="222222"/>
                </a:solidFill>
              </a:rPr>
              <a:t>: </a:t>
            </a:r>
            <a:r>
              <a:rPr sz="1800" dirty="0" err="1">
                <a:solidFill>
                  <a:srgbClr val="222222"/>
                </a:solidFill>
              </a:rPr>
              <a:t>канвас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кнопки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ползунок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скорости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статистика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Обеспечить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редактирование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поля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мышью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клик</a:t>
            </a:r>
            <a:r>
              <a:rPr sz="1800" dirty="0">
                <a:solidFill>
                  <a:srgbClr val="222222"/>
                </a:solidFill>
              </a:rPr>
              <a:t> и </a:t>
            </a:r>
            <a:r>
              <a:rPr sz="1800" dirty="0" err="1">
                <a:solidFill>
                  <a:srgbClr val="222222"/>
                </a:solidFill>
              </a:rPr>
              <a:t>перетаскивание</a:t>
            </a:r>
            <a:r>
              <a:rPr sz="1800" dirty="0">
                <a:solidFill>
                  <a:srgbClr val="222222"/>
                </a:solidFill>
              </a:rPr>
              <a:t>).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Реализовать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сохранение</a:t>
            </a:r>
            <a:r>
              <a:rPr sz="1800" dirty="0">
                <a:solidFill>
                  <a:srgbClr val="222222"/>
                </a:solidFill>
              </a:rPr>
              <a:t> и </a:t>
            </a:r>
            <a:r>
              <a:rPr sz="1800" dirty="0" err="1">
                <a:solidFill>
                  <a:srgbClr val="222222"/>
                </a:solidFill>
              </a:rPr>
              <a:t>загрузку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поля</a:t>
            </a:r>
            <a:r>
              <a:rPr sz="1800" dirty="0">
                <a:solidFill>
                  <a:srgbClr val="222222"/>
                </a:solidFill>
              </a:rPr>
              <a:t> в </a:t>
            </a:r>
            <a:r>
              <a:rPr sz="1800" dirty="0" err="1">
                <a:solidFill>
                  <a:srgbClr val="222222"/>
                </a:solidFill>
              </a:rPr>
              <a:t>формате</a:t>
            </a:r>
            <a:r>
              <a:rPr sz="1800" dirty="0">
                <a:solidFill>
                  <a:srgbClr val="222222"/>
                </a:solidFill>
              </a:rPr>
              <a:t> Life 1.06.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Поле 20×20 с тороидальными границами.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ЛКМ — переключение клетки; зажатая ЛКМ — рисование.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Старт / Стоп / Шаг (пробел, →).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Очистка / Случайное заполнение / Сброс (C, R).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Регулировка скорости (~50–1000 мс между кадрами).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Сохранение и загрузка в формате Life 1.06 (S, L).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Отображение имени, итерации, числа живых клеток и правила.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• Адаптивный размер клеток при изменении окна; F11 — полный экран.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Нефункциональные требования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Запуск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одной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командой</a:t>
            </a:r>
            <a:r>
              <a:rPr sz="1800" dirty="0">
                <a:solidFill>
                  <a:srgbClr val="222222"/>
                </a:solidFill>
              </a:rPr>
              <a:t>: python main.py. </a:t>
            </a:r>
            <a:r>
              <a:rPr sz="1800" dirty="0" err="1">
                <a:solidFill>
                  <a:srgbClr val="222222"/>
                </a:solidFill>
              </a:rPr>
              <a:t>Без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сетевых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зависимостей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Архитектура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по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принципам</a:t>
            </a:r>
            <a:r>
              <a:rPr sz="1800" dirty="0">
                <a:solidFill>
                  <a:srgbClr val="222222"/>
                </a:solidFill>
              </a:rPr>
              <a:t> ООП: </a:t>
            </a:r>
            <a:r>
              <a:rPr sz="1800" dirty="0" err="1">
                <a:solidFill>
                  <a:srgbClr val="222222"/>
                </a:solidFill>
              </a:rPr>
              <a:t>инкапсуляция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наследование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полиморфизм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Минимизация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связей</a:t>
            </a:r>
            <a:r>
              <a:rPr sz="1800" dirty="0">
                <a:solidFill>
                  <a:srgbClr val="222222"/>
                </a:solidFill>
              </a:rPr>
              <a:t>: GUI </a:t>
            </a:r>
            <a:r>
              <a:rPr sz="1800" dirty="0" err="1">
                <a:solidFill>
                  <a:srgbClr val="222222"/>
                </a:solidFill>
              </a:rPr>
              <a:t>не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лезет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в</a:t>
            </a:r>
            <a:r>
              <a:rPr sz="1800" dirty="0">
                <a:solidFill>
                  <a:srgbClr val="222222"/>
                </a:solidFill>
              </a:rPr>
              <a:t> Field </a:t>
            </a:r>
            <a:r>
              <a:rPr sz="1800" dirty="0" err="1">
                <a:solidFill>
                  <a:srgbClr val="222222"/>
                </a:solidFill>
              </a:rPr>
              <a:t>и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формат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файла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напрямую</a:t>
            </a:r>
            <a:r>
              <a:rPr sz="1800" dirty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Кросс-платформенность</a:t>
            </a:r>
            <a:r>
              <a:rPr sz="1800" dirty="0">
                <a:solidFill>
                  <a:srgbClr val="222222"/>
                </a:solidFill>
              </a:rPr>
              <a:t>: Windows, Linux.</a:t>
            </a:r>
          </a:p>
          <a:p>
            <a:pPr>
              <a:spcAft>
                <a:spcPts val="600"/>
              </a:spcAft>
            </a:pPr>
            <a:r>
              <a:rPr sz="1800" dirty="0">
                <a:solidFill>
                  <a:srgbClr val="222222"/>
                </a:solidFill>
              </a:rPr>
              <a:t>• </a:t>
            </a:r>
            <a:r>
              <a:rPr sz="1800" dirty="0" err="1">
                <a:solidFill>
                  <a:srgbClr val="222222"/>
                </a:solidFill>
              </a:rPr>
              <a:t>Логика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проверена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ручными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тестами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мигалка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глайдер</a:t>
            </a:r>
            <a:r>
              <a:rPr sz="1800" dirty="0">
                <a:solidFill>
                  <a:srgbClr val="222222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Архитектура: диаграмма классов</a:t>
            </a:r>
          </a:p>
        </p:txBody>
      </p:sp>
      <p:pic>
        <p:nvPicPr>
          <p:cNvPr id="4" name="Picture 3" descr="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947" y="602472"/>
            <a:ext cx="6528121" cy="61669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CAB06-CB51-0683-40ED-59F3EFE8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05ED18-60B1-04BF-7F21-685763F2B191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85DEE1-513F-EBD4-BC6B-21CEB185E0F4}"/>
              </a:ext>
            </a:extLst>
          </p:cNvPr>
          <p:cNvSpPr txBox="1"/>
          <p:nvPr/>
        </p:nvSpPr>
        <p:spPr>
          <a:xfrm>
            <a:off x="457200" y="45720"/>
            <a:ext cx="112772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>
                <a:solidFill>
                  <a:srgbClr val="183E6B"/>
                </a:solidFill>
              </a:rPr>
              <a:t>Описание принципа работы</a:t>
            </a:r>
            <a:endParaRPr sz="2800" b="1" dirty="0">
              <a:solidFill>
                <a:srgbClr val="183E6B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B2D83-F094-E5B8-CB14-B5D1507B3FE7}"/>
              </a:ext>
            </a:extLst>
          </p:cNvPr>
          <p:cNvSpPr txBox="1"/>
          <p:nvPr/>
        </p:nvSpPr>
        <p:spPr>
          <a:xfrm>
            <a:off x="640080" y="914400"/>
            <a:ext cx="1091153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ru-RU" dirty="0"/>
              <a:t>На сетке каждая клетка либо «живая», либо «мёртвая». На каждом шаге клетка рождается, выживает или умирает по трём простым правилам (зависят от числа соседей). Больше ничего — дальше система развивается сама. Это «песочница», в которой три строчки правил порождают бесконечное разнообразие поведения — и при этом отличный способ прокачать навыки программирования.</a:t>
            </a:r>
            <a:br>
              <a:rPr lang="ru-RU" dirty="0"/>
            </a:br>
            <a:br>
              <a:rPr lang="ru-RU" dirty="0"/>
            </a:br>
            <a:r>
              <a:rPr lang="ru-RU" dirty="0"/>
              <a:t>Это не игра в привычном смысле — это математическая модель, которая показывает, как из очень простых правил может возникать сложное, непредсказуемое поведение. Это называется эмерджентность.</a:t>
            </a:r>
            <a:r>
              <a:rPr lang="ru-RU" dirty="0">
                <a:solidFill>
                  <a:srgbClr val="222222"/>
                </a:solidFill>
              </a:rPr>
              <a:t> </a:t>
            </a:r>
            <a:r>
              <a:rPr lang="ru-RU" dirty="0"/>
              <a:t>Никакого центрального управления — каждая клетка действует по локальным правилам, но вся система ведёт себя как живой организм.</a:t>
            </a:r>
          </a:p>
        </p:txBody>
      </p:sp>
    </p:spTree>
    <p:extLst>
      <p:ext uri="{BB962C8B-B14F-4D97-AF65-F5344CB8AC3E}">
        <p14:creationId xmlns:p14="http://schemas.microsoft.com/office/powerpoint/2010/main" val="868695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Запуск и пустое поле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Окно с панелью кнопок, регулятором скорости, строкой статистики (имя, итерация, число живых клеток, правило) и игровым полем 20×20.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Создание мигалки</a:t>
            </a:r>
          </a:p>
        </p:txBody>
      </p:sp>
      <p:pic>
        <p:nvPicPr>
          <p:cNvPr id="4" name="Picture 3" descr="02_blinker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Кликами по полю расставлены три клетки в одной строке — классический осциллятор «blinker».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Шаг симуляции</a:t>
            </a:r>
          </a:p>
        </p:txBody>
      </p:sp>
      <p:pic>
        <p:nvPicPr>
          <p:cNvPr id="4" name="Picture 3" descr="03_blinker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После одного шага (кнопка «Шаг» / клавиша →) горизонтальная линия превратилась в вертикальную. Итерация увеличилась до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Загрузка глайдера из файла</a:t>
            </a:r>
          </a:p>
        </p:txBody>
      </p:sp>
      <p:pic>
        <p:nvPicPr>
          <p:cNvPr id="4" name="Picture 3" descr="04_glider_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Через «Загрузить» загружен examples/glider.cells. Имя в шапке поменялось на «Glider», правило подхватилось из файла.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Глайдер через 4 шага</a:t>
            </a:r>
          </a:p>
        </p:txBody>
      </p:sp>
      <p:pic>
        <p:nvPicPr>
          <p:cNvPr id="4" name="Picture 3" descr="05_glider_after_4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Глайдер сдвинулся по диагонали — каноническое поведение фигуры.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Случайное заполнение</a:t>
            </a:r>
          </a:p>
        </p:txBody>
      </p:sp>
      <p:pic>
        <p:nvPicPr>
          <p:cNvPr id="4" name="Picture 3" descr="06_random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«Случайно» (R) заполняет поле примерно наполовину, итерация сбрасывается в 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Функционал: Очистка поля</a:t>
            </a:r>
          </a:p>
        </p:txBody>
      </p:sp>
      <p:pic>
        <p:nvPicPr>
          <p:cNvPr id="4" name="Picture 3" descr="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68680"/>
            <a:ext cx="6350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78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Кнопка «Очистить» (C) приводит поле к пустому состоянию.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3E6B"/>
                </a:solidFill>
              </a:rP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91153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Все функциональные и нефункциональные требования из ТЗ выполнены.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Архитектура построена по принципам ООП: иерархия Rule даёт наследование и полиморфизм; каждый класс отвечает за одну задачу; GUI отделён от логики и формата файла.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Поведение классических фигур (мигалка, глайдер) соответствует эталону.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• Возможные расширения: настраиваемый размер поля, дополнительные правила (HighLife B36/S23, Day&amp;Night и т. п.), палитра, экспорт в RLE.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677</Words>
  <Application>Microsoft Office PowerPoint</Application>
  <PresentationFormat>Широкоэкранный</PresentationFormat>
  <Paragraphs>54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Артём Чулков</cp:lastModifiedBy>
  <cp:revision>9</cp:revision>
  <dcterms:created xsi:type="dcterms:W3CDTF">2013-01-27T09:14:16Z</dcterms:created>
  <dcterms:modified xsi:type="dcterms:W3CDTF">2026-05-15T06:37:50Z</dcterms:modified>
  <cp:category/>
</cp:coreProperties>
</file>