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 snapToObjects="1">
      <p:cViewPr varScale="1">
        <p:scale>
          <a:sx n="110" d="100"/>
          <a:sy n="110" d="100"/>
        </p:scale>
        <p:origin x="6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 dirty="0">
                <a:solidFill>
                  <a:srgbClr val="183E6B"/>
                </a:solidFill>
              </a:rPr>
              <a:t>Game of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 err="1">
                <a:solidFill>
                  <a:srgbClr val="222222"/>
                </a:solidFill>
              </a:rPr>
              <a:t>Реализация</a:t>
            </a:r>
            <a:r>
              <a:rPr sz="2800" b="0" dirty="0">
                <a:solidFill>
                  <a:srgbClr val="222222"/>
                </a:solidFill>
              </a:rPr>
              <a:t> </a:t>
            </a:r>
            <a:r>
              <a:rPr sz="2800" b="0" dirty="0" err="1">
                <a:solidFill>
                  <a:srgbClr val="222222"/>
                </a:solidFill>
              </a:rPr>
              <a:t>клеточного</a:t>
            </a:r>
            <a:r>
              <a:rPr sz="2800" b="0" dirty="0">
                <a:solidFill>
                  <a:srgbClr val="222222"/>
                </a:solidFill>
              </a:rPr>
              <a:t> </a:t>
            </a:r>
            <a:r>
              <a:rPr sz="2800" b="0" dirty="0" err="1">
                <a:solidFill>
                  <a:srgbClr val="222222"/>
                </a:solidFill>
              </a:rPr>
              <a:t>автомата</a:t>
            </a:r>
            <a:r>
              <a:rPr sz="2800" b="0" dirty="0">
                <a:solidFill>
                  <a:srgbClr val="222222"/>
                </a:solidFill>
              </a:rPr>
              <a:t> </a:t>
            </a:r>
            <a:r>
              <a:rPr sz="2800" b="0" dirty="0" err="1">
                <a:solidFill>
                  <a:srgbClr val="222222"/>
                </a:solidFill>
              </a:rPr>
              <a:t>Дж</a:t>
            </a:r>
            <a:r>
              <a:rPr sz="2800" b="0" dirty="0">
                <a:solidFill>
                  <a:srgbClr val="222222"/>
                </a:solidFill>
              </a:rPr>
              <a:t>. </a:t>
            </a:r>
            <a:r>
              <a:rPr sz="2800" b="0" dirty="0" err="1">
                <a:solidFill>
                  <a:srgbClr val="222222"/>
                </a:solidFill>
              </a:rPr>
              <a:t>Конвея</a:t>
            </a:r>
            <a:endParaRPr sz="2800" b="0" dirty="0">
              <a:solidFill>
                <a:srgbClr val="22222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C884D"/>
                </a:solidFill>
              </a:rPr>
              <a:t>Python 3 · Tkinter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 err="1">
                <a:solidFill>
                  <a:srgbClr val="222222"/>
                </a:solidFill>
              </a:rPr>
              <a:t>Менеджер</a:t>
            </a:r>
            <a:r>
              <a:rPr sz="1600" b="0" dirty="0">
                <a:solidFill>
                  <a:srgbClr val="222222"/>
                </a:solidFill>
              </a:rPr>
              <a:t> · </a:t>
            </a:r>
            <a:r>
              <a:rPr sz="1600" b="0" dirty="0" err="1">
                <a:solidFill>
                  <a:srgbClr val="222222"/>
                </a:solidFill>
              </a:rPr>
              <a:t>Разработчик</a:t>
            </a:r>
            <a:r>
              <a:rPr sz="1600" b="0" dirty="0">
                <a:solidFill>
                  <a:srgbClr val="222222"/>
                </a:solidFill>
              </a:rPr>
              <a:t> · </a:t>
            </a:r>
            <a:r>
              <a:rPr sz="1600" b="0" dirty="0" err="1">
                <a:solidFill>
                  <a:srgbClr val="222222"/>
                </a:solidFill>
              </a:rPr>
              <a:t>Тестировщик</a:t>
            </a:r>
            <a:endParaRPr sz="1600" b="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Цель и 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884D"/>
                </a:solidFill>
              </a:rPr>
              <a:t>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Разработать настольное приложение, реализующее клеточный автомат «Жизнь» с интерактивным полем 20×20, пошаговой и непрерывной симуляцией, ручной расстановкой клеток, случайным заполнением, сохранением и загрузкой состояния.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884D"/>
                </a:solidFill>
              </a:rPr>
              <a:t>Актуальность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каноническая модель — простые правила порождают сложное поведение;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учебная база для отработки ООП и моделирования;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наглядная визуализация дискретных систем.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Спроектировать архитектуру с разделением слоёв: данные → логика → представление.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Реализовать модель поля и правил клеточного автомата (поддержка произвольного B…/S…).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Создать графический интерфейс на Tkinter: канвас, кнопки, ползунок скорости, статистика.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Обеспечить редактирование поля мышью (клик и перетаскивание).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Реализовать сохранение и загрузку поля в формате Life 1.06.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Покрыть приложение сценарием тестирования и подготовить отчёт.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Функциональные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Поле 20×20 с тороидальными границами.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ЛКМ — переключение клетки; зажатая ЛКМ — рисование.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Старт / Стоп / Шаг (пробел, →).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Очистка / Случайное заполнение / Сброс (C, R).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Регулировка скорости (~50–1000 мс между кадрами).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Сохранение и загрузка в формате Life 1.06 (S, L).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Отображение имени, итерации, числа живых клеток и правила.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Адаптивный размер клеток при изменении окна; F11 — полный экран.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Нефункциональные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</a:rPr>
              <a:t>• Python 3.10+; </a:t>
            </a:r>
            <a:r>
              <a:rPr sz="1800" dirty="0" err="1">
                <a:solidFill>
                  <a:srgbClr val="222222"/>
                </a:solidFill>
              </a:rPr>
              <a:t>интерфейс</a:t>
            </a:r>
            <a:r>
              <a:rPr sz="1800" dirty="0">
                <a:solidFill>
                  <a:srgbClr val="222222"/>
                </a:solidFill>
              </a:rPr>
              <a:t> — </a:t>
            </a:r>
            <a:r>
              <a:rPr sz="1800" dirty="0" err="1">
                <a:solidFill>
                  <a:srgbClr val="222222"/>
                </a:solidFill>
              </a:rPr>
              <a:t>стандартный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Tkinter</a:t>
            </a:r>
            <a:r>
              <a:rPr sz="1800" dirty="0">
                <a:solidFill>
                  <a:srgbClr val="222222"/>
                </a:solidFill>
              </a:rPr>
              <a:t> (</a:t>
            </a:r>
            <a:r>
              <a:rPr sz="1800" dirty="0" err="1">
                <a:solidFill>
                  <a:srgbClr val="222222"/>
                </a:solidFill>
              </a:rPr>
              <a:t>без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сторонних</a:t>
            </a:r>
            <a:r>
              <a:rPr sz="1800" dirty="0">
                <a:solidFill>
                  <a:srgbClr val="222222"/>
                </a:solidFill>
              </a:rPr>
              <a:t> GUI).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</a:rPr>
              <a:t>• </a:t>
            </a:r>
            <a:r>
              <a:rPr sz="1800" dirty="0" err="1">
                <a:solidFill>
                  <a:srgbClr val="222222"/>
                </a:solidFill>
              </a:rPr>
              <a:t>Запуск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одной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командой</a:t>
            </a:r>
            <a:r>
              <a:rPr sz="1800" dirty="0">
                <a:solidFill>
                  <a:srgbClr val="222222"/>
                </a:solidFill>
              </a:rPr>
              <a:t>: python </a:t>
            </a:r>
            <a:r>
              <a:rPr sz="1800" dirty="0" err="1">
                <a:solidFill>
                  <a:srgbClr val="222222"/>
                </a:solidFill>
              </a:rPr>
              <a:t>main.py</a:t>
            </a:r>
            <a:r>
              <a:rPr sz="1800" dirty="0">
                <a:solidFill>
                  <a:srgbClr val="222222"/>
                </a:solidFill>
              </a:rPr>
              <a:t>. </a:t>
            </a:r>
            <a:r>
              <a:rPr sz="1800" dirty="0" err="1">
                <a:solidFill>
                  <a:srgbClr val="222222"/>
                </a:solidFill>
              </a:rPr>
              <a:t>Без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сетевых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зависимостей</a:t>
            </a:r>
            <a:r>
              <a:rPr sz="1800" dirty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</a:rPr>
              <a:t>• </a:t>
            </a:r>
            <a:r>
              <a:rPr sz="1800" dirty="0" err="1">
                <a:solidFill>
                  <a:srgbClr val="222222"/>
                </a:solidFill>
              </a:rPr>
              <a:t>Архитектура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по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принципам</a:t>
            </a:r>
            <a:r>
              <a:rPr sz="1800" dirty="0">
                <a:solidFill>
                  <a:srgbClr val="222222"/>
                </a:solidFill>
              </a:rPr>
              <a:t> ООП: </a:t>
            </a:r>
            <a:r>
              <a:rPr sz="1800" dirty="0" err="1">
                <a:solidFill>
                  <a:srgbClr val="222222"/>
                </a:solidFill>
              </a:rPr>
              <a:t>инкапсуляция</a:t>
            </a:r>
            <a:r>
              <a:rPr sz="1800" dirty="0">
                <a:solidFill>
                  <a:srgbClr val="222222"/>
                </a:solidFill>
              </a:rPr>
              <a:t>, </a:t>
            </a:r>
            <a:r>
              <a:rPr sz="1800" dirty="0" err="1">
                <a:solidFill>
                  <a:srgbClr val="222222"/>
                </a:solidFill>
              </a:rPr>
              <a:t>наследование</a:t>
            </a:r>
            <a:r>
              <a:rPr sz="1800" dirty="0">
                <a:solidFill>
                  <a:srgbClr val="222222"/>
                </a:solidFill>
              </a:rPr>
              <a:t>, </a:t>
            </a:r>
            <a:r>
              <a:rPr sz="1800" dirty="0" err="1">
                <a:solidFill>
                  <a:srgbClr val="222222"/>
                </a:solidFill>
              </a:rPr>
              <a:t>полиморфизм</a:t>
            </a:r>
            <a:r>
              <a:rPr sz="1800" dirty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</a:rPr>
              <a:t>• </a:t>
            </a:r>
            <a:r>
              <a:rPr sz="1800" dirty="0" err="1">
                <a:solidFill>
                  <a:srgbClr val="222222"/>
                </a:solidFill>
              </a:rPr>
              <a:t>Минимизация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связей</a:t>
            </a:r>
            <a:r>
              <a:rPr sz="1800" dirty="0">
                <a:solidFill>
                  <a:srgbClr val="222222"/>
                </a:solidFill>
              </a:rPr>
              <a:t>: GUI </a:t>
            </a:r>
            <a:r>
              <a:rPr sz="1800" dirty="0" err="1">
                <a:solidFill>
                  <a:srgbClr val="222222"/>
                </a:solidFill>
              </a:rPr>
              <a:t>не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лезет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в</a:t>
            </a:r>
            <a:r>
              <a:rPr sz="1800" dirty="0">
                <a:solidFill>
                  <a:srgbClr val="222222"/>
                </a:solidFill>
              </a:rPr>
              <a:t> Field </a:t>
            </a:r>
            <a:r>
              <a:rPr sz="1800" dirty="0" err="1">
                <a:solidFill>
                  <a:srgbClr val="222222"/>
                </a:solidFill>
              </a:rPr>
              <a:t>и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формат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файла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напрямую</a:t>
            </a:r>
            <a:r>
              <a:rPr sz="1800" dirty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</a:rPr>
              <a:t>• </a:t>
            </a:r>
            <a:r>
              <a:rPr sz="1800" dirty="0" err="1">
                <a:solidFill>
                  <a:srgbClr val="222222"/>
                </a:solidFill>
              </a:rPr>
              <a:t>Кросс-платформенность</a:t>
            </a:r>
            <a:r>
              <a:rPr sz="1800" dirty="0">
                <a:solidFill>
                  <a:srgbClr val="222222"/>
                </a:solidFill>
              </a:rPr>
              <a:t>: Windows, Linux.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</a:rPr>
              <a:t>• </a:t>
            </a:r>
            <a:r>
              <a:rPr sz="1800" dirty="0" err="1">
                <a:solidFill>
                  <a:srgbClr val="222222"/>
                </a:solidFill>
              </a:rPr>
              <a:t>Логика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проверена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ручными</a:t>
            </a:r>
            <a:r>
              <a:rPr sz="1800" dirty="0">
                <a:solidFill>
                  <a:srgbClr val="222222"/>
                </a:solidFill>
              </a:rPr>
              <a:t> </a:t>
            </a:r>
            <a:r>
              <a:rPr sz="1800" dirty="0" err="1">
                <a:solidFill>
                  <a:srgbClr val="222222"/>
                </a:solidFill>
              </a:rPr>
              <a:t>тестами</a:t>
            </a:r>
            <a:r>
              <a:rPr sz="1800" dirty="0">
                <a:solidFill>
                  <a:srgbClr val="222222"/>
                </a:solidFill>
              </a:rPr>
              <a:t> (</a:t>
            </a:r>
            <a:r>
              <a:rPr sz="1800" dirty="0" err="1">
                <a:solidFill>
                  <a:srgbClr val="222222"/>
                </a:solidFill>
              </a:rPr>
              <a:t>мигалка</a:t>
            </a:r>
            <a:r>
              <a:rPr sz="1800" dirty="0">
                <a:solidFill>
                  <a:srgbClr val="222222"/>
                </a:solidFill>
              </a:rPr>
              <a:t>, </a:t>
            </a:r>
            <a:r>
              <a:rPr sz="1800" dirty="0" err="1">
                <a:solidFill>
                  <a:srgbClr val="222222"/>
                </a:solidFill>
              </a:rPr>
              <a:t>глайдер</a:t>
            </a:r>
            <a:r>
              <a:rPr sz="1800" dirty="0">
                <a:solidFill>
                  <a:srgbClr val="222222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Используемые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Python 3.10+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91440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выразительный синтаксис, встроенный ООП, минимальные зависимости.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Tkinter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87452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стандартная библиотека Python, достаточная для канваса и кнопок; PyGame избыточен, Qt тянет тяжёлые зависимости.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dataclasses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8346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лаконичное описание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abc.ABC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79476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иерархия правил Rule с полиморфным интерфейсом.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Формат Life 1.06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75488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де-факто стандарт хранения паттернов «Жизни»; легко читается.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Архитектура: диаграмма классов</a:t>
            </a:r>
          </a:p>
        </p:txBody>
      </p:sp>
      <p:pic>
        <p:nvPicPr>
          <p:cNvPr id="4" name="Picture 3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47" y="602472"/>
            <a:ext cx="6528121" cy="6166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Применённые принципы ООП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Инкапсуляция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914400"/>
            <a:ext cx="8076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Все атрибуты приватные (_field, _cells, _rule); доступ — через методы и @property.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Наследование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74520"/>
            <a:ext cx="8076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Rule → CustomRule → ConwayRule. ConwayRule переиспользует логику родителя.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Полиморфизм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34640"/>
            <a:ext cx="8076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GameModel.compute_iteration зовёт rule.next_state(...) — конкретный класс не важен.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Минимум связей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794760"/>
            <a:ext cx="8076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GUI знает только GameModel и LifeFileIO; не лезет в Field, Point и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84D"/>
                </a:solidFill>
              </a:rPr>
              <a:t>SRP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754880"/>
            <a:ext cx="8076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Один класс = одна задача: данные / правило / хранение / логика / I/O / интерфейс.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Запуск и пустое поле</a:t>
            </a:r>
          </a:p>
        </p:txBody>
      </p:sp>
      <p:pic>
        <p:nvPicPr>
          <p:cNvPr id="4" name="Picture 3" descr="01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Окно с панелью кнопок, регулятором скорости, строкой статистики (имя, итерация, число живых клеток, правило) и игровым полем 20×20.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Создание мигалки</a:t>
            </a:r>
          </a:p>
        </p:txBody>
      </p:sp>
      <p:pic>
        <p:nvPicPr>
          <p:cNvPr id="4" name="Picture 3" descr="02_blinker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Кликами по полю расставлены три клетки в одной строке — классический осциллятор «blinker».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Шаг симуляции</a:t>
            </a:r>
          </a:p>
        </p:txBody>
      </p:sp>
      <p:pic>
        <p:nvPicPr>
          <p:cNvPr id="4" name="Picture 3" descr="03_blinker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После одного шага (кнопка «Шаг» / клавиша →) горизонтальная линия превратилась в вертикальную. Итерация увеличилась до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Загрузка глайдера из файла</a:t>
            </a:r>
          </a:p>
        </p:txBody>
      </p:sp>
      <p:pic>
        <p:nvPicPr>
          <p:cNvPr id="4" name="Picture 3" descr="04_glider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Через «Загрузить» загружен examples/glider.cells. Имя в шапке поменялось на «Glider», правило подхватилось из файла.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Глайдер через 4 шага</a:t>
            </a:r>
          </a:p>
        </p:txBody>
      </p:sp>
      <p:pic>
        <p:nvPicPr>
          <p:cNvPr id="4" name="Picture 3" descr="05_glider_after_4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Глайдер сдвинулся по диагонали — каноническое поведение фигуры.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Случайное заполнение</a:t>
            </a:r>
          </a:p>
        </p:txBody>
      </p:sp>
      <p:pic>
        <p:nvPicPr>
          <p:cNvPr id="4" name="Picture 3" descr="06_random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Кнопка «Случайно» (R) заполняет поле примерно наполовину, итерация сбрасывается в 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Функционал: Очистка поля</a:t>
            </a:r>
          </a:p>
        </p:txBody>
      </p:sp>
      <p:pic>
        <p:nvPicPr>
          <p:cNvPr id="4" name="Picture 3" descr="01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350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Кнопка «Очистить» (C) приводит поле к пустому состоянию.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3E6B"/>
                </a:solidFill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Все функциональные и нефункциональные требования из ТЗ выполнены.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Архитектура построена по принципам ООП: иерархия Rule даёт наследование и полиморфизм; каждый класс отвечает за одну задачу; GUI отделён от логики и формата файла.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Поведение классических фигур (мигалка, глайдер) соответствует эталону.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Возможные расширения: настраиваемый размер поля, дополнительные правила (HighLife B36/S23, Day&amp;Night и т. п.), палитра, экспорт в RLE.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719</Words>
  <Application>Microsoft Macintosh PowerPoint</Application>
  <PresentationFormat>Широкоэкранный</PresentationFormat>
  <Paragraphs>76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Даниил Зедгенидзе</cp:lastModifiedBy>
  <cp:revision>7</cp:revision>
  <dcterms:created xsi:type="dcterms:W3CDTF">2013-01-27T09:14:16Z</dcterms:created>
  <dcterms:modified xsi:type="dcterms:W3CDTF">2026-05-07T01:36:35Z</dcterms:modified>
  <cp:category/>
</cp:coreProperties>
</file>